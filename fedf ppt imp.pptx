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86" r:id="rId2"/>
    <p:sldId id="260" r:id="rId3"/>
    <p:sldId id="278" r:id="rId4"/>
    <p:sldId id="257" r:id="rId5"/>
    <p:sldId id="321" r:id="rId6"/>
    <p:sldId id="326" r:id="rId7"/>
    <p:sldId id="322" r:id="rId8"/>
    <p:sldId id="323" r:id="rId9"/>
    <p:sldId id="324" r:id="rId10"/>
    <p:sldId id="277" r:id="rId11"/>
    <p:sldId id="320" r:id="rId12"/>
    <p:sldId id="327" r:id="rId13"/>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p:scale>
          <a:sx n="104" d="100"/>
          <a:sy n="104" d="100"/>
        </p:scale>
        <p:origin x="1125" y="69"/>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t>6/19/2026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6/19/2026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6/19/2026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r>
              <a:rPr lang="en-US" sz="1800" b="0" dirty="0">
                <a:solidFill>
                  <a:schemeClr val="tx1"/>
                </a:solidFill>
                <a:latin typeface="Times New Roman" panose="02020603050405020304" pitchFamily="18" charset="0"/>
                <a:cs typeface="Times New Roman" panose="02020603050405020304" pitchFamily="18" charset="0"/>
              </a:rPr>
              <a:t/>
            </a:r>
            <a:br>
              <a:rPr lang="en-US" sz="1800" b="0" dirty="0">
                <a:solidFill>
                  <a:schemeClr val="tx1"/>
                </a:solidFill>
                <a:latin typeface="Times New Roman" panose="02020603050405020304" pitchFamily="18" charset="0"/>
                <a:cs typeface="Times New Roman" panose="02020603050405020304" pitchFamily="18" charset="0"/>
              </a:rPr>
            </a:br>
            <a:r>
              <a:rPr lang="en-US" sz="2200" b="0" dirty="0">
                <a:solidFill>
                  <a:schemeClr val="tx1"/>
                </a:solidFill>
                <a:latin typeface="Times New Roman" panose="02020603050405020304" pitchFamily="18" charset="0"/>
                <a:cs typeface="Times New Roman" panose="02020603050405020304" pitchFamily="18" charset="0"/>
              </a:rPr>
              <a:t>A</a:t>
            </a:r>
            <a:r>
              <a:rPr lang="en-US" sz="1800" b="0" dirty="0">
                <a:solidFill>
                  <a:schemeClr val="tx1"/>
                </a:solidFill>
                <a:latin typeface="Times New Roman" panose="02020603050405020304" pitchFamily="18" charset="0"/>
                <a:cs typeface="Times New Roman" panose="02020603050405020304" pitchFamily="18" charset="0"/>
              </a:rPr>
              <a:t/>
            </a:r>
            <a:br>
              <a:rPr lang="en-US" sz="1800" b="0" dirty="0">
                <a:solidFill>
                  <a:schemeClr val="tx1"/>
                </a:solidFill>
                <a:latin typeface="Times New Roman" panose="02020603050405020304" pitchFamily="18" charset="0"/>
                <a:cs typeface="Times New Roman" panose="02020603050405020304" pitchFamily="18" charset="0"/>
              </a:rPr>
            </a:br>
            <a:r>
              <a:rPr lang="en-US" sz="3600" b="1" dirty="0">
                <a:solidFill>
                  <a:srgbClr val="FF0000"/>
                </a:solidFill>
                <a:latin typeface="Times New Roman" panose="02020603050405020304" pitchFamily="18" charset="0"/>
                <a:cs typeface="Times New Roman" panose="02020603050405020304" pitchFamily="18" charset="0"/>
              </a:rPr>
              <a:t>Project Review Meeting  </a:t>
            </a:r>
            <a:r>
              <a:rPr lang="en-US" sz="2200" dirty="0">
                <a:latin typeface="Times New Roman" panose="02020603050405020304" pitchFamily="18" charset="0"/>
                <a:cs typeface="Times New Roman" panose="02020603050405020304" pitchFamily="18" charset="0"/>
              </a:rPr>
              <a:t/>
            </a:r>
            <a:br>
              <a:rPr lang="en-US" sz="2200" dirty="0">
                <a:latin typeface="Times New Roman" panose="02020603050405020304" pitchFamily="18" charset="0"/>
                <a:cs typeface="Times New Roman" panose="02020603050405020304" pitchFamily="18" charset="0"/>
              </a:rPr>
            </a:br>
            <a:r>
              <a:rPr lang="en-US" sz="2200" b="0" dirty="0">
                <a:solidFill>
                  <a:schemeClr val="tx1"/>
                </a:solidFill>
                <a:latin typeface="Times New Roman" panose="02020603050405020304" pitchFamily="18" charset="0"/>
                <a:cs typeface="Times New Roman" panose="02020603050405020304" pitchFamily="18" charset="0"/>
              </a:rPr>
              <a:t> on</a:t>
            </a:r>
            <a:r>
              <a:rPr lang="en-US" sz="2200" dirty="0">
                <a:latin typeface="Times New Roman" panose="02020603050405020304" pitchFamily="18" charset="0"/>
                <a:cs typeface="Times New Roman" panose="02020603050405020304" pitchFamily="18" charset="0"/>
              </a:rPr>
              <a:t/>
            </a:r>
            <a:br>
              <a:rPr lang="en-US" sz="2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t>
            </a:r>
            <a:r>
              <a:rPr lang="en-US" sz="3200" dirty="0" smtClean="0">
                <a:latin typeface="Times New Roman" panose="02020603050405020304" pitchFamily="18" charset="0"/>
                <a:cs typeface="Times New Roman" panose="02020603050405020304" pitchFamily="18" charset="0"/>
              </a:rPr>
              <a:t>Pharmacy Inventory </a:t>
            </a:r>
            <a:r>
              <a:rPr lang="en-US" sz="3200" dirty="0" err="1" smtClean="0">
                <a:latin typeface="Times New Roman" panose="02020603050405020304" pitchFamily="18" charset="0"/>
                <a:cs typeface="Times New Roman" panose="02020603050405020304" pitchFamily="18" charset="0"/>
              </a:rPr>
              <a:t>Managment</a:t>
            </a:r>
            <a:r>
              <a:rPr lang="en-US" sz="3200" dirty="0" smtClean="0">
                <a:latin typeface="Times New Roman" panose="02020603050405020304" pitchFamily="18" charset="0"/>
                <a:cs typeface="Times New Roman" panose="02020603050405020304" pitchFamily="18" charset="0"/>
              </a:rPr>
              <a:t> </a:t>
            </a:r>
            <a:endParaRPr lang="en-US" sz="40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381000" y="1366277"/>
            <a:ext cx="8458200" cy="2895600"/>
          </a:xfrm>
        </p:spPr>
        <p:txBody>
          <a:bodyPr>
            <a:normAutofit fontScale="40000" lnSpcReduction="20000"/>
          </a:bodyPr>
          <a:lstStyle/>
          <a:p>
            <a:pPr marR="0" algn="ctr" eaLnBrk="1" hangingPunct="1">
              <a:lnSpc>
                <a:spcPct val="80000"/>
              </a:lnSpc>
              <a:defRPr/>
            </a:pPr>
            <a:endParaRPr lang="en-US" sz="2000" dirty="0">
              <a:solidFill>
                <a:srgbClr val="0D0D0D"/>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2600" b="1" dirty="0">
                <a:solidFill>
                  <a:srgbClr val="00B0F0"/>
                </a:solidFill>
                <a:latin typeface="Times New Roman" panose="02020603050405020304" pitchFamily="18" charset="0"/>
                <a:cs typeface="Times New Roman" panose="02020603050405020304" pitchFamily="18" charset="0"/>
              </a:rPr>
              <a:t>By</a:t>
            </a:r>
          </a:p>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3300" dirty="0">
                <a:solidFill>
                  <a:srgbClr val="0D0D0D"/>
                </a:solidFill>
                <a:latin typeface="Times New Roman" panose="02020603050405020304" pitchFamily="18" charset="0"/>
                <a:cs typeface="Times New Roman" panose="02020603050405020304" pitchFamily="18" charset="0"/>
              </a:rPr>
              <a:t>Name  </a:t>
            </a:r>
            <a:r>
              <a:rPr lang="en-US" sz="3300" dirty="0" err="1">
                <a:solidFill>
                  <a:srgbClr val="0D0D0D"/>
                </a:solidFill>
                <a:latin typeface="Times New Roman" panose="02020603050405020304" pitchFamily="18" charset="0"/>
                <a:cs typeface="Times New Roman" panose="02020603050405020304" pitchFamily="18" charset="0"/>
              </a:rPr>
              <a:t>B.Koushika</a:t>
            </a:r>
            <a:r>
              <a:rPr lang="en-US" sz="3300" dirty="0">
                <a:solidFill>
                  <a:srgbClr val="0D0D0D"/>
                </a:solidFill>
                <a:latin typeface="Times New Roman" panose="02020603050405020304" pitchFamily="18" charset="0"/>
                <a:cs typeface="Times New Roman" panose="02020603050405020304" pitchFamily="18" charset="0"/>
              </a:rPr>
              <a:t> </a:t>
            </a:r>
            <a:r>
              <a:rPr lang="en-US" sz="3300" dirty="0" err="1">
                <a:solidFill>
                  <a:srgbClr val="0D0D0D"/>
                </a:solidFill>
                <a:latin typeface="Times New Roman" panose="02020603050405020304" pitchFamily="18" charset="0"/>
                <a:cs typeface="Times New Roman" panose="02020603050405020304" pitchFamily="18" charset="0"/>
              </a:rPr>
              <a:t>vardini</a:t>
            </a:r>
            <a:r>
              <a:rPr lang="en-US" sz="3300" dirty="0">
                <a:solidFill>
                  <a:srgbClr val="0D0D0D"/>
                </a:solidFill>
                <a:latin typeface="Times New Roman" panose="02020603050405020304" pitchFamily="18" charset="0"/>
                <a:cs typeface="Times New Roman" panose="02020603050405020304" pitchFamily="18" charset="0"/>
              </a:rPr>
              <a:t>                       roll 2520030459</a:t>
            </a:r>
          </a:p>
          <a:p>
            <a:pPr marR="0" algn="ctr" eaLnBrk="1" hangingPunct="1">
              <a:lnSpc>
                <a:spcPct val="80000"/>
              </a:lnSpc>
              <a:defRPr/>
            </a:pPr>
            <a:r>
              <a:rPr lang="en-US" sz="3300" dirty="0">
                <a:solidFill>
                  <a:srgbClr val="0D0D0D"/>
                </a:solidFill>
                <a:latin typeface="Times New Roman" panose="02020603050405020304" pitchFamily="18" charset="0"/>
                <a:cs typeface="Times New Roman" panose="02020603050405020304" pitchFamily="18" charset="0"/>
              </a:rPr>
              <a:t>Name  </a:t>
            </a:r>
            <a:r>
              <a:rPr lang="en-US" sz="3300" dirty="0" err="1">
                <a:solidFill>
                  <a:srgbClr val="0D0D0D"/>
                </a:solidFill>
                <a:latin typeface="Times New Roman" panose="02020603050405020304" pitchFamily="18" charset="0"/>
                <a:cs typeface="Times New Roman" panose="02020603050405020304" pitchFamily="18" charset="0"/>
              </a:rPr>
              <a:t>N.Satwika</a:t>
            </a:r>
            <a:r>
              <a:rPr lang="en-US" sz="3300" dirty="0">
                <a:solidFill>
                  <a:srgbClr val="0D0D0D"/>
                </a:solidFill>
                <a:latin typeface="Times New Roman" panose="02020603050405020304" pitchFamily="18" charset="0"/>
                <a:cs typeface="Times New Roman" panose="02020603050405020304" pitchFamily="18" charset="0"/>
              </a:rPr>
              <a:t>                                      roll 2520090015</a:t>
            </a:r>
          </a:p>
          <a:p>
            <a:pPr>
              <a:lnSpc>
                <a:spcPct val="80000"/>
              </a:lnSpc>
              <a:defRPr/>
            </a:pPr>
            <a:endParaRPr lang="en-US" sz="3600" b="1" dirty="0">
              <a:solidFill>
                <a:srgbClr val="00B0F0"/>
              </a:solidFill>
              <a:latin typeface="Times New Roman" panose="02020603050405020304" pitchFamily="18" charset="0"/>
              <a:cs typeface="Times New Roman" panose="02020603050405020304" pitchFamily="18" charset="0"/>
            </a:endParaRPr>
          </a:p>
          <a:p>
            <a:pPr>
              <a:lnSpc>
                <a:spcPct val="80000"/>
              </a:lnSpc>
              <a:defRPr/>
            </a:pPr>
            <a:r>
              <a:rPr lang="en-US" sz="3600" b="1" dirty="0">
                <a:solidFill>
                  <a:srgbClr val="00B0F0"/>
                </a:solidFill>
                <a:latin typeface="Times New Roman" panose="02020603050405020304" pitchFamily="18" charset="0"/>
                <a:cs typeface="Times New Roman" panose="02020603050405020304" pitchFamily="18" charset="0"/>
              </a:rPr>
              <a:t>Team Number: 2</a:t>
            </a:r>
          </a:p>
          <a:p>
            <a:pPr marR="0" algn="ctr" eaLnBrk="1" hangingPunct="1">
              <a:lnSpc>
                <a:spcPct val="80000"/>
              </a:lnSpc>
              <a:defRPr/>
            </a:pPr>
            <a:endParaRPr lang="en-US" sz="3300" dirty="0">
              <a:solidFill>
                <a:srgbClr val="0D0D0D"/>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1300" b="1" dirty="0">
              <a:solidFill>
                <a:srgbClr val="FF000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dirty="0">
              <a:solidFill>
                <a:srgbClr val="0D0D0D"/>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3400" b="1" dirty="0">
                <a:solidFill>
                  <a:srgbClr val="00B0F0"/>
                </a:solidFill>
                <a:latin typeface="Times New Roman" panose="02020603050405020304" pitchFamily="18" charset="0"/>
                <a:cs typeface="Times New Roman" panose="02020603050405020304" pitchFamily="18" charset="0"/>
              </a:rPr>
              <a:t>Dr. </a:t>
            </a:r>
            <a:r>
              <a:rPr lang="en-IN" altLang="en-US" sz="3400" b="1" dirty="0">
                <a:solidFill>
                  <a:srgbClr val="00B0F0"/>
                </a:solidFill>
                <a:latin typeface="Times New Roman" panose="02020603050405020304" pitchFamily="18" charset="0"/>
                <a:cs typeface="Times New Roman" panose="02020603050405020304" pitchFamily="18" charset="0"/>
              </a:rPr>
              <a:t>D</a:t>
            </a:r>
            <a:r>
              <a:rPr lang="en-US" sz="3400" b="1" dirty="0" err="1">
                <a:solidFill>
                  <a:srgbClr val="00B0F0"/>
                </a:solidFill>
                <a:latin typeface="Times New Roman" panose="02020603050405020304" pitchFamily="18" charset="0"/>
                <a:cs typeface="Times New Roman" panose="02020603050405020304" pitchFamily="18" charset="0"/>
              </a:rPr>
              <a:t>.Pavitra</a:t>
            </a:r>
            <a:endParaRPr lang="en-US" sz="34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3400" b="1" dirty="0">
                <a:solidFill>
                  <a:srgbClr val="00B0F0"/>
                </a:solidFill>
                <a:latin typeface="Times New Roman" panose="02020603050405020304" pitchFamily="18" charset="0"/>
                <a:cs typeface="Times New Roman" panose="02020603050405020304" pitchFamily="18" charset="0"/>
              </a:rPr>
              <a:t>A</a:t>
            </a:r>
            <a:r>
              <a:rPr lang="en-IN" altLang="en-US" sz="3400" b="1" dirty="0">
                <a:solidFill>
                  <a:srgbClr val="00B0F0"/>
                </a:solidFill>
                <a:latin typeface="Times New Roman" panose="02020603050405020304" pitchFamily="18" charset="0"/>
                <a:cs typeface="Times New Roman" panose="02020603050405020304" pitchFamily="18" charset="0"/>
              </a:rPr>
              <a:t>ssistant</a:t>
            </a:r>
            <a:r>
              <a:rPr lang="en-US" sz="3400" b="1" dirty="0">
                <a:solidFill>
                  <a:srgbClr val="00B0F0"/>
                </a:solidFill>
                <a:latin typeface="Times New Roman" panose="02020603050405020304" pitchFamily="18" charset="0"/>
                <a:cs typeface="Times New Roman" panose="02020603050405020304" pitchFamily="18" charset="0"/>
              </a:rPr>
              <a:t> Professor </a:t>
            </a:r>
          </a:p>
          <a:p>
            <a:pPr marR="0" algn="ctr" eaLnBrk="1" hangingPunct="1">
              <a:lnSpc>
                <a:spcPct val="80000"/>
              </a:lnSpc>
              <a:defRPr/>
            </a:pPr>
            <a:endParaRPr lang="en-US" sz="2400" b="1" dirty="0">
              <a:solidFill>
                <a:srgbClr val="0070C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4400" b="1" dirty="0">
                <a:solidFill>
                  <a:srgbClr val="0070C0"/>
                </a:solidFill>
                <a:latin typeface="Times New Roman" panose="02020603050405020304" pitchFamily="18" charset="0"/>
                <a:cs typeface="Times New Roman" panose="02020603050405020304" pitchFamily="18" charset="0"/>
              </a:rPr>
              <a:t>Department of Computer Science and Engineering</a:t>
            </a:r>
          </a:p>
          <a:p>
            <a:pPr marR="0" eaLnBrk="1" hangingPunct="1">
              <a:lnSpc>
                <a:spcPct val="80000"/>
              </a:lnSpc>
              <a:defRPr/>
            </a:pPr>
            <a:r>
              <a:rPr lang="en-US" sz="2400" b="1" dirty="0">
                <a:solidFill>
                  <a:srgbClr val="0D0D0D"/>
                </a:solidFill>
                <a:latin typeface="Times New Roman" panose="02020603050405020304" pitchFamily="18" charset="0"/>
                <a:cs typeface="Times New Roman" panose="02020603050405020304" pitchFamily="18" charset="0"/>
              </a:rPr>
              <a:t>                                                </a:t>
            </a:r>
            <a:r>
              <a:rPr lang="en-US" sz="2400" dirty="0">
                <a:solidFill>
                  <a:srgbClr val="0D0D0D"/>
                </a:solidFill>
                <a:latin typeface="Times New Roman" panose="02020603050405020304" pitchFamily="18" charset="0"/>
                <a:cs typeface="Times New Roman" panose="02020603050405020304" pitchFamily="18" charset="0"/>
              </a:rPr>
              <a:t>                                                                          </a:t>
            </a:r>
          </a:p>
        </p:txBody>
      </p:sp>
      <p:sp>
        <p:nvSpPr>
          <p:cNvPr id="13" name="TextBox 12"/>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Abstract</a:t>
            </a:r>
          </a:p>
          <a:p>
            <a:r>
              <a:rPr lang="en-US" dirty="0">
                <a:latin typeface="Times New Roman" panose="02020603050405020304" pitchFamily="18" charset="0"/>
                <a:cs typeface="Times New Roman" panose="02020603050405020304" pitchFamily="18" charset="0"/>
              </a:rPr>
              <a:t>Introduction</a:t>
            </a:r>
          </a:p>
          <a:p>
            <a:r>
              <a:rPr lang="en-US" dirty="0">
                <a:latin typeface="Times New Roman" panose="02020603050405020304" pitchFamily="18" charset="0"/>
                <a:cs typeface="Times New Roman" panose="02020603050405020304" pitchFamily="18" charset="0"/>
              </a:rPr>
              <a:t>Problem Statement</a:t>
            </a:r>
          </a:p>
          <a:p>
            <a:r>
              <a:rPr lang="en-US" dirty="0">
                <a:latin typeface="Times New Roman" panose="02020603050405020304" pitchFamily="18" charset="0"/>
                <a:cs typeface="Times New Roman" panose="02020603050405020304" pitchFamily="18" charset="0"/>
              </a:rPr>
              <a:t>Project Flow Diagram</a:t>
            </a:r>
          </a:p>
          <a:p>
            <a:r>
              <a:rPr lang="en-US" dirty="0">
                <a:latin typeface="Times New Roman" panose="02020603050405020304" pitchFamily="18" charset="0"/>
                <a:cs typeface="Times New Roman" panose="02020603050405020304" pitchFamily="18" charset="0"/>
              </a:rPr>
              <a:t>Objectives with Justification</a:t>
            </a:r>
          </a:p>
          <a:p>
            <a:r>
              <a:rPr lang="en-US" dirty="0">
                <a:latin typeface="Times New Roman" panose="02020603050405020304" pitchFamily="18" charset="0"/>
                <a:cs typeface="Times New Roman" panose="02020603050405020304" pitchFamily="18" charset="0"/>
              </a:rPr>
              <a:t>Modules[Frontend web pages]</a:t>
            </a:r>
          </a:p>
          <a:p>
            <a:r>
              <a:rPr lang="en-US" dirty="0">
                <a:latin typeface="Times New Roman" panose="02020603050405020304" pitchFamily="18" charset="0"/>
                <a:cs typeface="Times New Roman" panose="02020603050405020304" pitchFamily="18" charset="0"/>
              </a:rPr>
              <a:t>Expected Outcomes of the Proposed Work</a:t>
            </a:r>
          </a:p>
          <a:p>
            <a:r>
              <a:rPr lang="en-US" dirty="0">
                <a:latin typeface="Times New Roman" panose="02020603050405020304" pitchFamily="18" charset="0"/>
                <a:cs typeface="Times New Roman" panose="02020603050405020304" pitchFamily="18" charset="0"/>
              </a:rPr>
              <a:t>Conclusion </a:t>
            </a:r>
          </a:p>
          <a:p>
            <a:r>
              <a:rPr lang="en-US" dirty="0">
                <a:latin typeface="Times New Roman" panose="02020603050405020304" pitchFamily="18" charset="0"/>
                <a:cs typeface="Times New Roman" panose="02020603050405020304" pitchFamily="18" charset="0"/>
              </a:rPr>
              <a:t>References</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Abstract</a:t>
            </a:r>
            <a:endParaRPr lang="en-US" sz="2800" dirty="0"/>
          </a:p>
        </p:txBody>
      </p:sp>
      <p:sp>
        <p:nvSpPr>
          <p:cNvPr id="5" name="Content Placeholder 4"/>
          <p:cNvSpPr>
            <a:spLocks noGrp="1"/>
          </p:cNvSpPr>
          <p:nvPr>
            <p:ph idx="1"/>
          </p:nvPr>
        </p:nvSpPr>
        <p:spPr>
          <a:xfrm>
            <a:off x="457200" y="1417639"/>
            <a:ext cx="8229600" cy="4708526"/>
          </a:xfrm>
        </p:spPr>
        <p:txBody>
          <a:bodyPr>
            <a:normAutofit fontScale="85000" lnSpcReduction="10000"/>
          </a:bodyPr>
          <a:lstStyle/>
          <a:p>
            <a:pPr marL="0" indent="0">
              <a:buNone/>
            </a:pPr>
            <a:r>
              <a:rPr lang="en-IN" dirty="0"/>
              <a:t>The Pharmacy Inventory Management System is designed to simplify the process of managing medicine inventory in a pharmacy. Manual methods are often prone to errors and can lead to stock shortages or expired medicines. This system provides an efficient way to maintain medicine records, monitor stock availability, and track expiry dates. It includes features such as inventory management, low-stock alerts, and data export. Developed using HTML, CSS, JavaScript, and Local Storage, the system improves accuracy, reduces manual work, and enhances overall inventory management.</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Introduction</a:t>
            </a:r>
          </a:p>
        </p:txBody>
      </p:sp>
      <p:sp>
        <p:nvSpPr>
          <p:cNvPr id="5" name="Content Placeholder 4"/>
          <p:cNvSpPr>
            <a:spLocks noGrp="1"/>
          </p:cNvSpPr>
          <p:nvPr>
            <p:ph idx="1"/>
          </p:nvPr>
        </p:nvSpPr>
        <p:spPr/>
        <p:txBody>
          <a:bodyPr>
            <a:normAutofit fontScale="85000" lnSpcReduction="20000"/>
          </a:bodyPr>
          <a:lstStyle/>
          <a:p>
            <a:r>
              <a:rPr lang="en-IN" dirty="0"/>
              <a:t>• Pharmacy inventory management is an essential part of healthcare operations.</a:t>
            </a:r>
          </a:p>
          <a:p>
            <a:r>
              <a:rPr lang="en-IN" dirty="0"/>
              <a:t>• Manual record keeping can lead to stock shortages, expired medicines, and data errors.</a:t>
            </a:r>
          </a:p>
          <a:p>
            <a:r>
              <a:rPr lang="en-IN" dirty="0"/>
              <a:t>• The Pharmacy Inventory Management System helps in maintaining accurate medicine records.</a:t>
            </a:r>
          </a:p>
          <a:p>
            <a:r>
              <a:rPr lang="en-IN" dirty="0"/>
              <a:t>• It allows users to add, update, search, and delete medicine information efficiently.</a:t>
            </a:r>
          </a:p>
          <a:p>
            <a:r>
              <a:rPr lang="en-IN" dirty="0"/>
              <a:t>• The system monitors low-stock medicines and expiry dates to improve inventory control.</a:t>
            </a:r>
          </a:p>
          <a:p>
            <a:r>
              <a:rPr lang="en-IN" dirty="0"/>
              <a:t>• Developed using HTML, CSS, JavaScript, and Local Storage for easy and efficient management.</a:t>
            </a:r>
          </a:p>
          <a:p>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solidFill>
                  <a:srgbClr val="0070C0"/>
                </a:solidFill>
                <a:latin typeface="Times New Roman" panose="02020603050405020304" pitchFamily="18" charset="0"/>
                <a:cs typeface="Times New Roman" panose="02020603050405020304" pitchFamily="18" charset="0"/>
              </a:rPr>
              <a:t>Problem Statement</a:t>
            </a:r>
            <a:r>
              <a:rPr lang="en-US" b="1" dirty="0">
                <a:solidFill>
                  <a:srgbClr val="0070C0"/>
                </a:solidFill>
                <a:latin typeface="Times New Roman" panose="02020603050405020304" pitchFamily="18" charset="0"/>
                <a:cs typeface="Times New Roman" panose="02020603050405020304" pitchFamily="18" charset="0"/>
              </a:rPr>
              <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r>
              <a:rPr lang="en-IN" dirty="0"/>
              <a:t>• Manual pharmacy inventory management is time-consuming and prone to errors.</a:t>
            </a:r>
          </a:p>
          <a:p>
            <a:r>
              <a:rPr lang="en-IN" dirty="0"/>
              <a:t>• Tracking stock levels and expiry dates manually can lead to shortages and expired medicines.</a:t>
            </a:r>
          </a:p>
          <a:p>
            <a:r>
              <a:rPr lang="en-IN" dirty="0"/>
              <a:t>• An efficient system is needed to manage medicine records and inventory accurately.</a:t>
            </a:r>
          </a:p>
          <a:p>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Project Flow Diagram</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pic>
        <p:nvPicPr>
          <p:cNvPr id="10" name="Content Placeholder 9" descr="The image illustrates a medication management system with steps for adding, validating, searching, checking stock, and exporting medication data.&#10;&#10;AI-generated content may be incorrect."/>
          <p:cNvPicPr>
            <a:picLocks noGrp="1" noChangeAspect="1"/>
          </p:cNvPicPr>
          <p:nvPr>
            <p:ph idx="1"/>
          </p:nvPr>
        </p:nvPicPr>
        <p:blipFill>
          <a:blip r:embed="rId3"/>
          <a:stretch>
            <a:fillRect/>
          </a:stretch>
        </p:blipFill>
        <p:spPr>
          <a:xfrm>
            <a:off x="142346" y="1066800"/>
            <a:ext cx="8849254" cy="56334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anose="02020603050405020304" pitchFamily="18" charset="0"/>
                <a:cs typeface="Times New Roman" panose="02020603050405020304" pitchFamily="18" charset="0"/>
              </a:rPr>
              <a:t>Objectives with Justification</a:t>
            </a:r>
            <a:r>
              <a:rPr lang="en-US" b="1" dirty="0">
                <a:solidFill>
                  <a:srgbClr val="0070C0"/>
                </a:solidFill>
                <a:latin typeface="Times New Roman" panose="02020603050405020304" pitchFamily="18" charset="0"/>
                <a:cs typeface="Times New Roman" panose="02020603050405020304" pitchFamily="18" charset="0"/>
              </a:rPr>
              <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57200" y="1295401"/>
            <a:ext cx="8229600" cy="4830764"/>
          </a:xfrm>
        </p:spPr>
        <p:txBody>
          <a:bodyPr>
            <a:normAutofit fontScale="62500" lnSpcReduction="20000"/>
          </a:bodyPr>
          <a:lstStyle/>
          <a:p>
            <a:r>
              <a:rPr lang="en-IN" b="1" dirty="0"/>
              <a:t>1. To maintain medicine inventory records efficiently.</a:t>
            </a:r>
            <a:r>
              <a:rPr lang="en-IN" dirty="0"/>
              <a:t/>
            </a:r>
            <a:br>
              <a:rPr lang="en-IN" dirty="0"/>
            </a:br>
            <a:r>
              <a:rPr lang="en-IN" b="1" dirty="0"/>
              <a:t>Justification:</a:t>
            </a:r>
            <a:r>
              <a:rPr lang="en-IN" dirty="0"/>
              <a:t> Reduces manual paperwork and improves record accuracy.</a:t>
            </a:r>
          </a:p>
          <a:p>
            <a:r>
              <a:rPr lang="en-IN" b="1" dirty="0"/>
              <a:t>2. To monitor stock levels of medicines.</a:t>
            </a:r>
            <a:r>
              <a:rPr lang="en-IN" dirty="0"/>
              <a:t/>
            </a:r>
            <a:br>
              <a:rPr lang="en-IN" dirty="0"/>
            </a:br>
            <a:r>
              <a:rPr lang="en-IN" b="1" dirty="0"/>
              <a:t>Justification:</a:t>
            </a:r>
            <a:r>
              <a:rPr lang="en-IN" dirty="0"/>
              <a:t> Helps prevent medicine shortages by identifying low-stock items.</a:t>
            </a:r>
          </a:p>
          <a:p>
            <a:r>
              <a:rPr lang="en-IN" b="1" dirty="0"/>
              <a:t>3. To track medicine expiry dates.</a:t>
            </a:r>
            <a:r>
              <a:rPr lang="en-IN" dirty="0"/>
              <a:t/>
            </a:r>
            <a:br>
              <a:rPr lang="en-IN" dirty="0"/>
            </a:br>
            <a:r>
              <a:rPr lang="en-IN" b="1" dirty="0"/>
              <a:t>Justification:</a:t>
            </a:r>
            <a:r>
              <a:rPr lang="en-IN" dirty="0"/>
              <a:t> Ensures timely removal of expired medicines and improves patient safety.</a:t>
            </a:r>
          </a:p>
          <a:p>
            <a:r>
              <a:rPr lang="en-IN" b="1" dirty="0"/>
              <a:t>4. To provide quick search and update facilities.</a:t>
            </a:r>
            <a:r>
              <a:rPr lang="en-IN" dirty="0"/>
              <a:t/>
            </a:r>
            <a:br>
              <a:rPr lang="en-IN" dirty="0"/>
            </a:br>
            <a:r>
              <a:rPr lang="en-IN" b="1" dirty="0"/>
              <a:t>Justification:</a:t>
            </a:r>
            <a:r>
              <a:rPr lang="en-IN" dirty="0"/>
              <a:t> Saves time and allows easy management of medicine information.</a:t>
            </a:r>
          </a:p>
          <a:p>
            <a:r>
              <a:rPr lang="en-IN" b="1" dirty="0"/>
              <a:t>5. To generate inventory reports through CSV export.</a:t>
            </a:r>
            <a:r>
              <a:rPr lang="en-IN" dirty="0"/>
              <a:t/>
            </a:r>
            <a:br>
              <a:rPr lang="en-IN" dirty="0"/>
            </a:br>
            <a:r>
              <a:rPr lang="en-IN" b="1" dirty="0"/>
              <a:t>Justification:</a:t>
            </a:r>
            <a:r>
              <a:rPr lang="en-IN" dirty="0"/>
              <a:t> Helps maintain backups and simplifies record keeping.</a:t>
            </a:r>
          </a:p>
          <a:p>
            <a:r>
              <a:rPr lang="en-IN" b="1" dirty="0"/>
              <a:t>6. To improve overall pharmacy inventory management.</a:t>
            </a:r>
            <a:r>
              <a:rPr lang="en-IN" dirty="0"/>
              <a:t/>
            </a:r>
            <a:br>
              <a:rPr lang="en-IN" dirty="0"/>
            </a:br>
            <a:r>
              <a:rPr lang="en-IN" b="1" dirty="0"/>
              <a:t>Justification:</a:t>
            </a:r>
            <a:r>
              <a:rPr lang="en-IN" dirty="0"/>
              <a:t> Enhances efficiency, accuracy, and decision-making in pharmacy operations.</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Modules [Frontend web pages]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975779193"/>
              </p:ext>
            </p:extLst>
          </p:nvPr>
        </p:nvGraphicFramePr>
        <p:xfrm>
          <a:off x="457200" y="1897221"/>
          <a:ext cx="8229600" cy="3931920"/>
        </p:xfrm>
        <a:graphic>
          <a:graphicData uri="http://schemas.openxmlformats.org/drawingml/2006/table">
            <a:tbl>
              <a:tblPr/>
              <a:tblGrid>
                <a:gridCol w="4114800">
                  <a:extLst>
                    <a:ext uri="{9D8B030D-6E8A-4147-A177-3AD203B41FA5}">
                      <a16:colId xmlns:a16="http://schemas.microsoft.com/office/drawing/2014/main" val="659070205"/>
                    </a:ext>
                  </a:extLst>
                </a:gridCol>
                <a:gridCol w="4114800">
                  <a:extLst>
                    <a:ext uri="{9D8B030D-6E8A-4147-A177-3AD203B41FA5}">
                      <a16:colId xmlns:a16="http://schemas.microsoft.com/office/drawing/2014/main" val="4056623987"/>
                    </a:ext>
                  </a:extLst>
                </a:gridCol>
              </a:tblGrid>
              <a:tr h="0">
                <a:tc>
                  <a:txBody>
                    <a:bodyPr/>
                    <a:lstStyle/>
                    <a:p>
                      <a:r>
                        <a:rPr lang="en-IN" b="1" dirty="0"/>
                        <a:t>CO</a:t>
                      </a:r>
                    </a:p>
                  </a:txBody>
                  <a:tcPr anchor="ctr">
                    <a:lnL>
                      <a:noFill/>
                    </a:lnL>
                    <a:lnR>
                      <a:noFill/>
                    </a:lnR>
                    <a:lnT>
                      <a:noFill/>
                    </a:lnT>
                    <a:lnB>
                      <a:noFill/>
                    </a:lnB>
                  </a:tcPr>
                </a:tc>
                <a:tc>
                  <a:txBody>
                    <a:bodyPr/>
                    <a:lstStyle/>
                    <a:p>
                      <a:r>
                        <a:rPr lang="en-GB" b="1" dirty="0"/>
                        <a:t>Topics Used in Pharmacy Inventory Management System</a:t>
                      </a:r>
                    </a:p>
                  </a:txBody>
                  <a:tcPr anchor="ctr">
                    <a:lnL>
                      <a:noFill/>
                    </a:lnL>
                    <a:lnR>
                      <a:noFill/>
                    </a:lnR>
                    <a:lnT>
                      <a:noFill/>
                    </a:lnT>
                    <a:lnB>
                      <a:noFill/>
                    </a:lnB>
                  </a:tcPr>
                </a:tc>
                <a:extLst>
                  <a:ext uri="{0D108BD9-81ED-4DB2-BD59-A6C34878D82A}">
                    <a16:rowId xmlns:a16="http://schemas.microsoft.com/office/drawing/2014/main" val="3979324622"/>
                  </a:ext>
                </a:extLst>
              </a:tr>
              <a:tr h="0">
                <a:tc>
                  <a:txBody>
                    <a:bodyPr/>
                    <a:lstStyle/>
                    <a:p>
                      <a:r>
                        <a:rPr lang="en-IN" b="0" dirty="0"/>
                        <a:t>CO1</a:t>
                      </a:r>
                    </a:p>
                  </a:txBody>
                  <a:tcPr anchor="ctr">
                    <a:lnL>
                      <a:noFill/>
                    </a:lnL>
                    <a:lnR>
                      <a:noFill/>
                    </a:lnR>
                    <a:lnT>
                      <a:noFill/>
                    </a:lnT>
                    <a:lnB>
                      <a:noFill/>
                    </a:lnB>
                  </a:tcPr>
                </a:tc>
                <a:tc>
                  <a:txBody>
                    <a:bodyPr/>
                    <a:lstStyle/>
                    <a:p>
                      <a:r>
                        <a:rPr lang="en-IN"/>
                        <a:t>Components, Virtual DOM, Props (Data Flow)</a:t>
                      </a:r>
                    </a:p>
                  </a:txBody>
                  <a:tcPr anchor="ctr">
                    <a:lnL>
                      <a:noFill/>
                    </a:lnL>
                    <a:lnR>
                      <a:noFill/>
                    </a:lnR>
                    <a:lnT>
                      <a:noFill/>
                    </a:lnT>
                    <a:lnB>
                      <a:noFill/>
                    </a:lnB>
                  </a:tcPr>
                </a:tc>
                <a:extLst>
                  <a:ext uri="{0D108BD9-81ED-4DB2-BD59-A6C34878D82A}">
                    <a16:rowId xmlns:a16="http://schemas.microsoft.com/office/drawing/2014/main" val="924383556"/>
                  </a:ext>
                </a:extLst>
              </a:tr>
              <a:tr h="0">
                <a:tc>
                  <a:txBody>
                    <a:bodyPr/>
                    <a:lstStyle/>
                    <a:p>
                      <a:r>
                        <a:rPr lang="en-IN" b="0" dirty="0"/>
                        <a:t>CO2</a:t>
                      </a:r>
                    </a:p>
                  </a:txBody>
                  <a:tcPr anchor="ctr">
                    <a:lnL>
                      <a:noFill/>
                    </a:lnL>
                    <a:lnR>
                      <a:noFill/>
                    </a:lnR>
                    <a:lnT>
                      <a:noFill/>
                    </a:lnT>
                    <a:lnB>
                      <a:noFill/>
                    </a:lnB>
                  </a:tcPr>
                </a:tc>
                <a:tc>
                  <a:txBody>
                    <a:bodyPr/>
                    <a:lstStyle/>
                    <a:p>
                      <a:r>
                        <a:rPr lang="fr-FR"/>
                        <a:t>ES6 JavaScript, Async/Await, Import/Export Modules</a:t>
                      </a:r>
                    </a:p>
                  </a:txBody>
                  <a:tcPr anchor="ctr">
                    <a:lnL>
                      <a:noFill/>
                    </a:lnL>
                    <a:lnR>
                      <a:noFill/>
                    </a:lnR>
                    <a:lnT>
                      <a:noFill/>
                    </a:lnT>
                    <a:lnB>
                      <a:noFill/>
                    </a:lnB>
                  </a:tcPr>
                </a:tc>
                <a:extLst>
                  <a:ext uri="{0D108BD9-81ED-4DB2-BD59-A6C34878D82A}">
                    <a16:rowId xmlns:a16="http://schemas.microsoft.com/office/drawing/2014/main" val="1219643800"/>
                  </a:ext>
                </a:extLst>
              </a:tr>
              <a:tr h="0">
                <a:tc>
                  <a:txBody>
                    <a:bodyPr/>
                    <a:lstStyle/>
                    <a:p>
                      <a:r>
                        <a:rPr lang="en-IN" b="0" dirty="0"/>
                        <a:t>CO3</a:t>
                      </a:r>
                    </a:p>
                  </a:txBody>
                  <a:tcPr anchor="ctr">
                    <a:lnL>
                      <a:noFill/>
                    </a:lnL>
                    <a:lnR>
                      <a:noFill/>
                    </a:lnR>
                    <a:lnT>
                      <a:noFill/>
                    </a:lnT>
                    <a:lnB>
                      <a:noFill/>
                    </a:lnB>
                  </a:tcPr>
                </a:tc>
                <a:tc>
                  <a:txBody>
                    <a:bodyPr/>
                    <a:lstStyle/>
                    <a:p>
                      <a:r>
                        <a:rPr lang="en-GB"/>
                        <a:t>Components, Props, State (useState), Hooks (useEffect)</a:t>
                      </a:r>
                    </a:p>
                  </a:txBody>
                  <a:tcPr anchor="ctr">
                    <a:lnL>
                      <a:noFill/>
                    </a:lnL>
                    <a:lnR>
                      <a:noFill/>
                    </a:lnR>
                    <a:lnT>
                      <a:noFill/>
                    </a:lnT>
                    <a:lnB>
                      <a:noFill/>
                    </a:lnB>
                  </a:tcPr>
                </a:tc>
                <a:extLst>
                  <a:ext uri="{0D108BD9-81ED-4DB2-BD59-A6C34878D82A}">
                    <a16:rowId xmlns:a16="http://schemas.microsoft.com/office/drawing/2014/main" val="654463846"/>
                  </a:ext>
                </a:extLst>
              </a:tr>
              <a:tr h="0">
                <a:tc>
                  <a:txBody>
                    <a:bodyPr/>
                    <a:lstStyle/>
                    <a:p>
                      <a:r>
                        <a:rPr lang="en-IN" b="0" dirty="0"/>
                        <a:t>CO4</a:t>
                      </a:r>
                    </a:p>
                  </a:txBody>
                  <a:tcPr anchor="ctr">
                    <a:lnL>
                      <a:noFill/>
                    </a:lnL>
                    <a:lnR>
                      <a:noFill/>
                    </a:lnR>
                    <a:lnT>
                      <a:noFill/>
                    </a:lnT>
                    <a:lnB>
                      <a:noFill/>
                    </a:lnB>
                  </a:tcPr>
                </a:tc>
                <a:tc>
                  <a:txBody>
                    <a:bodyPr/>
                    <a:lstStyle/>
                    <a:p>
                      <a:r>
                        <a:rPr lang="en-IN"/>
                        <a:t>State Management, API Integration, Error Handling</a:t>
                      </a:r>
                    </a:p>
                  </a:txBody>
                  <a:tcPr anchor="ctr">
                    <a:lnL>
                      <a:noFill/>
                    </a:lnL>
                    <a:lnR>
                      <a:noFill/>
                    </a:lnR>
                    <a:lnT>
                      <a:noFill/>
                    </a:lnT>
                    <a:lnB>
                      <a:noFill/>
                    </a:lnB>
                  </a:tcPr>
                </a:tc>
                <a:extLst>
                  <a:ext uri="{0D108BD9-81ED-4DB2-BD59-A6C34878D82A}">
                    <a16:rowId xmlns:a16="http://schemas.microsoft.com/office/drawing/2014/main" val="3784445111"/>
                  </a:ext>
                </a:extLst>
              </a:tr>
              <a:tr h="0">
                <a:tc>
                  <a:txBody>
                    <a:bodyPr/>
                    <a:lstStyle/>
                    <a:p>
                      <a:r>
                        <a:rPr lang="en-IN" b="0" dirty="0"/>
                        <a:t>CO5</a:t>
                      </a:r>
                    </a:p>
                  </a:txBody>
                  <a:tcPr anchor="ctr">
                    <a:lnL>
                      <a:noFill/>
                    </a:lnL>
                    <a:lnR>
                      <a:noFill/>
                    </a:lnR>
                    <a:lnT>
                      <a:noFill/>
                    </a:lnT>
                    <a:lnB>
                      <a:noFill/>
                    </a:lnB>
                  </a:tcPr>
                </a:tc>
                <a:tc>
                  <a:txBody>
                    <a:bodyPr/>
                    <a:lstStyle/>
                    <a:p>
                      <a:r>
                        <a:rPr lang="en-IN"/>
                        <a:t>React Router, Forms, Validation</a:t>
                      </a:r>
                    </a:p>
                  </a:txBody>
                  <a:tcPr anchor="ctr">
                    <a:lnL>
                      <a:noFill/>
                    </a:lnL>
                    <a:lnR>
                      <a:noFill/>
                    </a:lnR>
                    <a:lnT>
                      <a:noFill/>
                    </a:lnT>
                    <a:lnB>
                      <a:noFill/>
                    </a:lnB>
                  </a:tcPr>
                </a:tc>
                <a:extLst>
                  <a:ext uri="{0D108BD9-81ED-4DB2-BD59-A6C34878D82A}">
                    <a16:rowId xmlns:a16="http://schemas.microsoft.com/office/drawing/2014/main" val="161240009"/>
                  </a:ext>
                </a:extLst>
              </a:tr>
              <a:tr h="0">
                <a:tc>
                  <a:txBody>
                    <a:bodyPr/>
                    <a:lstStyle/>
                    <a:p>
                      <a:r>
                        <a:rPr lang="en-IN" b="0" dirty="0"/>
                        <a:t>CO6</a:t>
                      </a:r>
                    </a:p>
                  </a:txBody>
                  <a:tcPr anchor="ctr">
                    <a:lnL>
                      <a:noFill/>
                    </a:lnL>
                    <a:lnR>
                      <a:noFill/>
                    </a:lnR>
                    <a:lnT>
                      <a:noFill/>
                    </a:lnT>
                    <a:lnB>
                      <a:noFill/>
                    </a:lnB>
                  </a:tcPr>
                </a:tc>
                <a:tc>
                  <a:txBody>
                    <a:bodyPr/>
                    <a:lstStyle/>
                    <a:p>
                      <a:r>
                        <a:rPr lang="en-IN" dirty="0" err="1"/>
                        <a:t>Vite</a:t>
                      </a:r>
                      <a:r>
                        <a:rPr lang="en-IN" dirty="0"/>
                        <a:t>, </a:t>
                      </a:r>
                      <a:r>
                        <a:rPr lang="en-IN" dirty="0" err="1"/>
                        <a:t>npm</a:t>
                      </a:r>
                      <a:r>
                        <a:rPr lang="en-IN" dirty="0"/>
                        <a:t>, Deployment</a:t>
                      </a:r>
                    </a:p>
                  </a:txBody>
                  <a:tcPr anchor="ctr">
                    <a:lnL>
                      <a:noFill/>
                    </a:lnL>
                    <a:lnR>
                      <a:noFill/>
                    </a:lnR>
                    <a:lnT>
                      <a:noFill/>
                    </a:lnT>
                    <a:lnB>
                      <a:noFill/>
                    </a:lnB>
                  </a:tcPr>
                </a:tc>
                <a:extLst>
                  <a:ext uri="{0D108BD9-81ED-4DB2-BD59-A6C34878D82A}">
                    <a16:rowId xmlns:a16="http://schemas.microsoft.com/office/drawing/2014/main" val="4169581725"/>
                  </a:ext>
                </a:extLst>
              </a:tr>
            </a:tbl>
          </a:graphicData>
        </a:graphic>
      </p:graphicFrame>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868362"/>
          </a:xfrm>
        </p:spPr>
        <p:txBody>
          <a:bodyPr>
            <a:normAutofit fontScale="90000"/>
          </a:bodyPr>
          <a:lstStyle/>
          <a:p>
            <a:r>
              <a:rPr lang="en-US" sz="3100" b="1" dirty="0">
                <a:solidFill>
                  <a:srgbClr val="0070C0"/>
                </a:solidFill>
                <a:latin typeface="Times New Roman" panose="02020603050405020304" pitchFamily="18" charset="0"/>
                <a:cs typeface="Times New Roman" panose="02020603050405020304" pitchFamily="18" charset="0"/>
              </a:rPr>
              <a:t>Expected Outcomes of the Proposed Work</a:t>
            </a:r>
            <a:r>
              <a:rPr lang="en-US" b="1" dirty="0">
                <a:solidFill>
                  <a:srgbClr val="0070C0"/>
                </a:solidFill>
                <a:latin typeface="Times New Roman" panose="02020603050405020304" pitchFamily="18" charset="0"/>
                <a:cs typeface="Times New Roman" panose="02020603050405020304" pitchFamily="18" charset="0"/>
              </a:rPr>
              <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457200" y="1143001"/>
            <a:ext cx="8229600" cy="4983164"/>
          </a:xfrm>
        </p:spPr>
        <p:txBody>
          <a:bodyPr>
            <a:normAutofit fontScale="92500" lnSpcReduction="10000"/>
          </a:bodyPr>
          <a:lstStyle/>
          <a:p>
            <a:pPr marL="0" indent="0">
              <a:buNone/>
            </a:pPr>
            <a:r>
              <a:rPr lang="en-IN" dirty="0"/>
              <a:t>• Efficient management of medicine inventory records.</a:t>
            </a:r>
          </a:p>
          <a:p>
            <a:pPr marL="0" indent="0">
              <a:buNone/>
            </a:pPr>
            <a:r>
              <a:rPr lang="en-IN" dirty="0"/>
              <a:t>• Quick identification of low-stock and near-expiry medicines.</a:t>
            </a:r>
          </a:p>
          <a:p>
            <a:pPr marL="0" indent="0">
              <a:buNone/>
            </a:pPr>
            <a:r>
              <a:rPr lang="en-IN" dirty="0"/>
              <a:t>• Reduced manual errors in inventory tracking.</a:t>
            </a:r>
          </a:p>
          <a:p>
            <a:pPr marL="0" indent="0">
              <a:buNone/>
            </a:pPr>
            <a:r>
              <a:rPr lang="en-IN" dirty="0"/>
              <a:t>• Faster searching, updating, and maintenance of medicine data.</a:t>
            </a:r>
          </a:p>
          <a:p>
            <a:pPr marL="0" indent="0">
              <a:buNone/>
            </a:pPr>
            <a:r>
              <a:rPr lang="en-IN" dirty="0"/>
              <a:t>• Improved accuracy and productivity in pharmacy operations.</a:t>
            </a:r>
          </a:p>
          <a:p>
            <a:pPr marL="0" indent="0">
              <a:buNone/>
            </a:pPr>
            <a:r>
              <a:rPr lang="en-IN" dirty="0"/>
              <a:t>• Easy backup and reporting through CSV export.</a:t>
            </a:r>
          </a:p>
          <a:p>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Conclusion and Future Scope</a:t>
            </a:r>
            <a:endParaRPr lang="en-IN" sz="28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57200" y="1050925"/>
            <a:ext cx="8229600" cy="5075239"/>
          </a:xfrm>
        </p:spPr>
        <p:txBody>
          <a:bodyPr>
            <a:normAutofit fontScale="92500"/>
          </a:bodyPr>
          <a:lstStyle/>
          <a:p>
            <a:r>
              <a:rPr lang="en-IN" dirty="0"/>
              <a:t>The Pharmacy Inventory Management System successfully simplifies inventory management by providing accurate tracking of medicines, stock levels, and expiry dates. It reduces manual work and improves efficiency in pharmacy operations.</a:t>
            </a:r>
          </a:p>
          <a:p>
            <a:r>
              <a:rPr lang="en-IN" dirty="0"/>
              <a:t>In the future, the system can be enhanced with database integration, user authentication, barcode scanning, billing features, automated notifications, and cloud storage to make it more suitable for real-world pharmacy environments.</a:t>
            </a:r>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sp>
        <p:nvSpPr>
          <p:cNvPr id="6" name="Content Placeholder 5"/>
          <p:cNvSpPr>
            <a:spLocks noGrp="1"/>
          </p:cNvSpPr>
          <p:nvPr>
            <p:ph idx="1"/>
          </p:nvPr>
        </p:nvSpPr>
        <p:spPr/>
        <p:txBody>
          <a:bodyPr/>
          <a:lstStyle/>
          <a:p>
            <a:pPr marL="0" indent="0">
              <a:buNone/>
            </a:pPr>
            <a:r>
              <a:rPr lang="en-IN" dirty="0"/>
              <a:t>• HTML5 Documentation </a:t>
            </a:r>
            <a:br>
              <a:rPr lang="en-IN" dirty="0"/>
            </a:br>
            <a:r>
              <a:rPr lang="en-IN" dirty="0"/>
              <a:t>• CSS3 Documentation </a:t>
            </a:r>
            <a:br>
              <a:rPr lang="en-IN" dirty="0"/>
            </a:br>
            <a:r>
              <a:rPr lang="en-IN" dirty="0"/>
              <a:t>• JavaScript Documentation </a:t>
            </a:r>
            <a:br>
              <a:rPr lang="en-IN" dirty="0"/>
            </a:br>
            <a:r>
              <a:rPr lang="en-IN" dirty="0"/>
              <a:t>• Local Storage API </a:t>
            </a:r>
            <a:r>
              <a:rPr lang="en-IN" dirty="0" smtClean="0"/>
              <a:t>Documentation</a:t>
            </a:r>
            <a:r>
              <a:rPr lang="en-IN" dirty="0"/>
              <a:t/>
            </a:r>
            <a:br>
              <a:rPr lang="en-IN" dirty="0"/>
            </a:br>
            <a:r>
              <a:rPr lang="en-IN" dirty="0"/>
              <a:t>• Visual Studio Code Documentation</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TotalTime>
  <Words>721</Words>
  <Application>Microsoft Office PowerPoint</Application>
  <PresentationFormat>On-screen Show (4:3)</PresentationFormat>
  <Paragraphs>79</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Times New Roman</vt:lpstr>
      <vt:lpstr>Office Theme</vt:lpstr>
      <vt:lpstr> A Project Review Meeting    on  Pharmacy Inventory Managment </vt:lpstr>
      <vt:lpstr>Outline of the Presentation</vt:lpstr>
      <vt:lpstr>Abstract</vt:lpstr>
      <vt:lpstr>Introduction</vt:lpstr>
      <vt:lpstr>Problem Statement </vt:lpstr>
      <vt:lpstr>Project Flow Diagram</vt:lpstr>
      <vt:lpstr>Objectives with Justification </vt:lpstr>
      <vt:lpstr>Modules [Frontend web pages]</vt:lpstr>
      <vt:lpstr>Expected Outcomes of the Proposed Work </vt:lpstr>
      <vt:lpstr>Conclusion and Future Scope</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koushika vardhini</cp:lastModifiedBy>
  <cp:revision>203</cp:revision>
  <dcterms:created xsi:type="dcterms:W3CDTF">2006-08-16T00:00:00Z</dcterms:created>
  <dcterms:modified xsi:type="dcterms:W3CDTF">2026-06-19T05:28:37Z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0498F78E7FEA4EEEAB472766DBC798C7_12</vt:lpwstr>
  </property>
  <property fmtid="{D5CDD505-2E9C-101B-9397-08002B2CF9AE}" pid="3" name="KSOProductBuildVer">
    <vt:lpwstr>1033-12.1.0.26372</vt:lpwstr>
  </property>
</Properties>
</file>